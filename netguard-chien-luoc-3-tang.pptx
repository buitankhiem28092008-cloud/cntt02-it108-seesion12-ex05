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D5B6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4D5B68"/>
                </a:solidFill>
                <a:latin typeface="+mn-lt"/>
              </a:rPr>
              <a:t>Cảnh báo theo loại mã độc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Số cảnh báo</c:v>
                </c:pt>
              </c:strCache>
            </c:strRef>
          </c:tx>
          <c:spPr>
            <a:solidFill>
              <a:srgbClr val="1F6F9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Ransomware</c:v>
                  </c:pt>
                  <c:pt idx="1">
                    <c:v>Trojan</c:v>
                  </c:pt>
                  <c:pt idx="2">
                    <c:v>Worm</c:v>
                  </c:pt>
                  <c:pt idx="3">
                    <c:v>Spyware</c:v>
                  </c:pt>
                  <c:pt idx="4">
                    <c:v>Botnet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</c:v>
                </c:pt>
                <c:pt idx="1">
                  <c:v>117</c:v>
                </c:pt>
                <c:pt idx="2">
                  <c:v>48</c:v>
                </c:pt>
                <c:pt idx="3">
                  <c:v>53</c:v>
                </c:pt>
                <c:pt idx="4">
                  <c:v>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đầu: giới thiệu báo cáo và mục tiêu của buổi trình bày.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thích: mỗi tầng độc lập; nếu một tầng bị vượt qua, tầng sau vẫn bảo vệ.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Số liệu giả lập, lấy từ sheet thong-ke của file Excel đối soát.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Chốt: ưu tiên số 1 là Ransomware mức Nghiêm trọng.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A8C9"/>
                </a:solidFill>
              </a:rPr>
              <a:t>NETGUARD SECURITY OPERATIONS CENTER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Chiến lược phòng thủ 3 tầng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Báo cáo sự cố an ninh mạng – Tháng 10/2026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Phòng thủ chiều sâu: ba tầng độc lập</a:t>
            </a:r>
            <a:endParaRPr lang="en-US" sz="2400" dirty="0"/>
          </a:p>
        </p:txBody>
      </p:sp>
      <p:sp>
        <p:nvSpPr>
          <p:cNvPr id="3" name="root"/>
          <p:cNvSpPr/>
          <p:nvPr/>
        </p:nvSpPr>
        <p:spPr>
          <a:xfrm>
            <a:off x="3017520" y="91440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0B3C5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017520" y="914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Dữ liệu khách hàng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371600"/>
            <a:ext cx="0" cy="228600"/>
          </a:xfrm>
          <a:prstGeom prst="line">
            <a:avLst/>
          </a:prstGeom>
          <a:noFill/>
          <a:ln w="19050">
            <a:solidFill>
              <a:srgbClr val="4D5B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91640" y="1600200"/>
            <a:ext cx="5760720" cy="0"/>
          </a:xfrm>
          <a:prstGeom prst="line">
            <a:avLst/>
          </a:prstGeom>
          <a:noFill/>
          <a:ln w="19050">
            <a:solidFill>
              <a:srgbClr val="4D5B6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1640" y="1600200"/>
            <a:ext cx="0" cy="182880"/>
          </a:xfrm>
          <a:prstGeom prst="line">
            <a:avLst/>
          </a:prstGeom>
          <a:noFill/>
          <a:ln w="19050">
            <a:solidFill>
              <a:srgbClr val="4D5B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1600200"/>
            <a:ext cx="0" cy="182880"/>
          </a:xfrm>
          <a:prstGeom prst="line">
            <a:avLst/>
          </a:prstGeom>
          <a:noFill/>
          <a:ln w="19050">
            <a:solidFill>
              <a:srgbClr val="4D5B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52360" y="1600200"/>
            <a:ext cx="0" cy="182880"/>
          </a:xfrm>
          <a:prstGeom prst="line">
            <a:avLst/>
          </a:prstGeom>
          <a:noFill/>
          <a:ln w="19050">
            <a:solidFill>
              <a:srgbClr val="4D5B68"/>
            </a:solidFill>
            <a:prstDash val="solid"/>
          </a:ln>
        </p:spPr>
      </p:sp>
      <p:sp>
        <p:nvSpPr>
          <p:cNvPr id="10" name="tier1"/>
          <p:cNvSpPr/>
          <p:nvPr/>
        </p:nvSpPr>
        <p:spPr>
          <a:xfrm>
            <a:off x="457200" y="178308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1F6F9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1783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Tầng 1 · Vành đai mạng</a:t>
            </a:r>
            <a:endParaRPr lang="en-US" sz="1300" dirty="0"/>
          </a:p>
        </p:txBody>
      </p:sp>
      <p:sp>
        <p:nvSpPr>
          <p:cNvPr id="12" name="ctl11"/>
          <p:cNvSpPr/>
          <p:nvPr/>
        </p:nvSpPr>
        <p:spPr>
          <a:xfrm>
            <a:off x="457200" y="2606040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Tường lửa, IDS/IPS</a:t>
            </a:r>
            <a:endParaRPr lang="en-US" sz="1200" dirty="0"/>
          </a:p>
        </p:txBody>
      </p:sp>
      <p:sp>
        <p:nvSpPr>
          <p:cNvPr id="14" name="ctl12"/>
          <p:cNvSpPr/>
          <p:nvPr/>
        </p:nvSpPr>
        <p:spPr>
          <a:xfrm>
            <a:off x="457200" y="3200400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200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Lọc email độc hại</a:t>
            </a:r>
            <a:endParaRPr lang="en-US" sz="1200" dirty="0"/>
          </a:p>
        </p:txBody>
      </p:sp>
      <p:sp>
        <p:nvSpPr>
          <p:cNvPr id="16" name="ctl13"/>
          <p:cNvSpPr/>
          <p:nvPr/>
        </p:nvSpPr>
        <p:spPr>
          <a:xfrm>
            <a:off x="457200" y="3794760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794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Phân vùng mạng</a:t>
            </a:r>
            <a:endParaRPr lang="en-US" sz="1200" dirty="0"/>
          </a:p>
        </p:txBody>
      </p:sp>
      <p:sp>
        <p:nvSpPr>
          <p:cNvPr id="18" name="tier2"/>
          <p:cNvSpPr/>
          <p:nvPr/>
        </p:nvSpPr>
        <p:spPr>
          <a:xfrm>
            <a:off x="3337560" y="178308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1F6F9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337560" y="1783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Tầng 2 · Máy chủ &amp; thiết bị</a:t>
            </a:r>
            <a:endParaRPr lang="en-US" sz="1300" dirty="0"/>
          </a:p>
        </p:txBody>
      </p:sp>
      <p:sp>
        <p:nvSpPr>
          <p:cNvPr id="20" name="ctl21"/>
          <p:cNvSpPr/>
          <p:nvPr/>
        </p:nvSpPr>
        <p:spPr>
          <a:xfrm>
            <a:off x="3337560" y="2606040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3756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EDR trên thiết bị</a:t>
            </a:r>
            <a:endParaRPr lang="en-US" sz="1200" dirty="0"/>
          </a:p>
        </p:txBody>
      </p:sp>
      <p:sp>
        <p:nvSpPr>
          <p:cNvPr id="22" name="ctl22"/>
          <p:cNvSpPr/>
          <p:nvPr/>
        </p:nvSpPr>
        <p:spPr>
          <a:xfrm>
            <a:off x="3337560" y="3200400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37560" y="3200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Vá lỗi định kỳ</a:t>
            </a:r>
            <a:endParaRPr lang="en-US" sz="1200" dirty="0"/>
          </a:p>
        </p:txBody>
      </p:sp>
      <p:sp>
        <p:nvSpPr>
          <p:cNvPr id="24" name="ctl23"/>
          <p:cNvSpPr/>
          <p:nvPr/>
        </p:nvSpPr>
        <p:spPr>
          <a:xfrm>
            <a:off x="3337560" y="3794760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37560" y="3794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Quyền tối thiểu, 2FA</a:t>
            </a:r>
            <a:endParaRPr lang="en-US" sz="1200" dirty="0"/>
          </a:p>
        </p:txBody>
      </p:sp>
      <p:sp>
        <p:nvSpPr>
          <p:cNvPr id="26" name="tier3"/>
          <p:cNvSpPr/>
          <p:nvPr/>
        </p:nvSpPr>
        <p:spPr>
          <a:xfrm>
            <a:off x="6217920" y="178308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1F6F9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217920" y="1783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Tầng 3 · Dữ liệu &amp; ứng phó</a:t>
            </a:r>
            <a:endParaRPr lang="en-US" sz="1300" dirty="0"/>
          </a:p>
        </p:txBody>
      </p:sp>
      <p:sp>
        <p:nvSpPr>
          <p:cNvPr id="28" name="ctl31"/>
          <p:cNvSpPr/>
          <p:nvPr/>
        </p:nvSpPr>
        <p:spPr>
          <a:xfrm>
            <a:off x="6217920" y="2606040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Mã hóa, sao lưu 3-2-1</a:t>
            </a:r>
            <a:endParaRPr lang="en-US" sz="1200" dirty="0"/>
          </a:p>
        </p:txBody>
      </p:sp>
      <p:sp>
        <p:nvSpPr>
          <p:cNvPr id="30" name="ctl32"/>
          <p:cNvSpPr/>
          <p:nvPr/>
        </p:nvSpPr>
        <p:spPr>
          <a:xfrm>
            <a:off x="6217920" y="3200400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0" y="3200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Nhật ký tập trung</a:t>
            </a:r>
            <a:endParaRPr lang="en-US" sz="1200" dirty="0"/>
          </a:p>
        </p:txBody>
      </p:sp>
      <p:sp>
        <p:nvSpPr>
          <p:cNvPr id="32" name="ctl33"/>
          <p:cNvSpPr/>
          <p:nvPr/>
        </p:nvSpPr>
        <p:spPr>
          <a:xfrm>
            <a:off x="6217920" y="3794760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C9D6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17920" y="3794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Diễn tập ứng phó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D5B68"/>
                </a:solidFill>
              </a:rPr>
              <a:t>Kẻ tấn công phải vượt cả ba tầng mới chạm tới dữ liệu.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Trojan chiếm gần 40% cảnh báo tháng 10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1"/>
          <p:cNvSpPr/>
          <p:nvPr/>
        </p:nvSpPr>
        <p:spPr>
          <a:xfrm>
            <a:off x="5943600" y="100584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126480" y="10972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300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7132320" y="10972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cảnh báo được đối soát</a:t>
            </a:r>
            <a:endParaRPr lang="en-US" sz="1200" dirty="0"/>
          </a:p>
        </p:txBody>
      </p:sp>
      <p:sp>
        <p:nvSpPr>
          <p:cNvPr id="7" name="card2"/>
          <p:cNvSpPr/>
          <p:nvPr/>
        </p:nvSpPr>
        <p:spPr>
          <a:xfrm>
            <a:off x="5943600" y="224028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126480" y="233172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6F9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64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7132320" y="23317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mã có khoảng trắng thừa, TRIM xử lý</a:t>
            </a:r>
            <a:endParaRPr lang="en-US" sz="1200" dirty="0"/>
          </a:p>
        </p:txBody>
      </p:sp>
      <p:sp>
        <p:nvSpPr>
          <p:cNvPr id="10" name="card3"/>
          <p:cNvSpPr/>
          <p:nvPr/>
        </p:nvSpPr>
        <p:spPr>
          <a:xfrm>
            <a:off x="5943600" y="347472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126480" y="356616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79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48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7132320" y="3566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cảnh báo Nghiêm trọng (Ransomware)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Bốn việc cần làm ngay</a:t>
            </a:r>
            <a:endParaRPr lang="en-US" sz="2400" dirty="0"/>
          </a:p>
        </p:txBody>
      </p:sp>
      <p:sp>
        <p:nvSpPr>
          <p:cNvPr id="3" name="num1"/>
          <p:cNvSpPr/>
          <p:nvPr/>
        </p:nvSpPr>
        <p:spPr>
          <a:xfrm>
            <a:off x="548640" y="1097280"/>
            <a:ext cx="548640" cy="548640"/>
          </a:xfrm>
          <a:prstGeom prst="ellipse">
            <a:avLst/>
          </a:prstGeom>
          <a:solidFill>
            <a:srgbClr val="E879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0972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Cách ly máy chủ có cảnh báo Ransomware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1097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B68"/>
                </a:solidFill>
              </a:rPr>
              <a:t>Tầng 2, Tầng 3</a:t>
            </a:r>
            <a:endParaRPr lang="en-US" sz="1200" dirty="0"/>
          </a:p>
        </p:txBody>
      </p:sp>
      <p:sp>
        <p:nvSpPr>
          <p:cNvPr id="7" name="num2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1F6F9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9202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Kiểm tra bản sao lưu và thử khôi phục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1920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B68"/>
                </a:solidFill>
              </a:rPr>
              <a:t>Tầng 3</a:t>
            </a:r>
            <a:endParaRPr lang="en-US" sz="1200" dirty="0"/>
          </a:p>
        </p:txBody>
      </p:sp>
      <p:sp>
        <p:nvSpPr>
          <p:cNvPr id="11" name="num3"/>
          <p:cNvSpPr/>
          <p:nvPr/>
        </p:nvSpPr>
        <p:spPr>
          <a:xfrm>
            <a:off x="548640" y="2743200"/>
            <a:ext cx="548640" cy="548640"/>
          </a:xfrm>
          <a:prstGeom prst="ellipse">
            <a:avLst/>
          </a:prstGeom>
          <a:solidFill>
            <a:srgbClr val="1F6F9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743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Tăng cường lọc email, chặn Trojan ở vành đai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2743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B68"/>
                </a:solidFill>
              </a:rPr>
              <a:t>Tầng 1</a:t>
            </a:r>
            <a:endParaRPr lang="en-US" sz="1200" dirty="0"/>
          </a:p>
        </p:txBody>
      </p:sp>
      <p:sp>
        <p:nvSpPr>
          <p:cNvPr id="15" name="num4"/>
          <p:cNvSpPr/>
          <p:nvPr/>
        </p:nvSpPr>
        <p:spPr>
          <a:xfrm>
            <a:off x="548640" y="3566160"/>
            <a:ext cx="548640" cy="548640"/>
          </a:xfrm>
          <a:prstGeom prst="ellipse">
            <a:avLst/>
          </a:prstGeom>
          <a:solidFill>
            <a:srgbClr val="1F6F9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566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Chuẩn hóa dữ liệu nhật ký ngay tại nguồn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3566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B68"/>
                </a:solidFill>
              </a:rPr>
              <a:t>Quy trình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Guard">
  <a:themeElements>
    <a:clrScheme name="NetGuard">
      <a:dk1>
        <a:srgbClr val="1A1A1A"/>
      </a:dk1>
      <a:lt1>
        <a:srgbClr val="FFFFFF"/>
      </a:lt1>
      <a:dk2>
        <a:srgbClr val="0B3C5D"/>
      </a:dk2>
      <a:lt2>
        <a:srgbClr val="F4F7FA"/>
      </a:lt2>
      <a:accent1>
        <a:srgbClr val="0B3C5D"/>
      </a:accent1>
      <a:accent2>
        <a:srgbClr val="1F6F9F"/>
      </a:accent2>
      <a:accent3>
        <a:srgbClr val="7FA8C9"/>
      </a:accent3>
      <a:accent4>
        <a:srgbClr val="E8793A"/>
      </a:accent4>
      <a:accent5>
        <a:srgbClr val="9AA5B1"/>
      </a:accent5>
      <a:accent6>
        <a:srgbClr val="4D5B68"/>
      </a:accent6>
      <a:hlink>
        <a:srgbClr val="1F6F9F"/>
      </a:hlink>
      <a:folHlink>
        <a:srgbClr val="4D5B68"/>
      </a:folHlink>
    </a:clrScheme>
    <a:fontScheme name="NetGuard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NetGuard – Chiến lược phòng thủ 3 tầng</dc:title>
  <dc:subject>PptxGenJS Presentation</dc:subject>
  <dc:creator>PptxGenJS</dc:creator>
  <cp:lastModifiedBy>PptxGenJS</cp:lastModifiedBy>
  <cp:revision>1</cp:revision>
  <dcterms:created xsi:type="dcterms:W3CDTF">2026-10-26T17:59:16Z</dcterms:created>
  <dcterms:modified xsi:type="dcterms:W3CDTF">2026-10-26T17:59:16Z</dcterms:modified>
</cp:coreProperties>
</file>